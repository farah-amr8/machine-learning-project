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0275213" cy="42767250"/>
  <p:notesSz cx="6858000" cy="9144000"/>
  <p:defaultTextStyle>
    <a:defPPr>
      <a:defRPr lang="en-US"/>
    </a:defPPr>
    <a:lvl1pPr marL="0" algn="l" defTabSz="3505992" rtl="0" eaLnBrk="1" latinLnBrk="0" hangingPunct="1">
      <a:defRPr sz="6902" kern="1200">
        <a:solidFill>
          <a:schemeClr val="tx1"/>
        </a:solidFill>
        <a:latin typeface="+mn-lt"/>
        <a:ea typeface="+mn-ea"/>
        <a:cs typeface="+mn-cs"/>
      </a:defRPr>
    </a:lvl1pPr>
    <a:lvl2pPr marL="1752996" algn="l" defTabSz="3505992" rtl="0" eaLnBrk="1" latinLnBrk="0" hangingPunct="1">
      <a:defRPr sz="6902" kern="1200">
        <a:solidFill>
          <a:schemeClr val="tx1"/>
        </a:solidFill>
        <a:latin typeface="+mn-lt"/>
        <a:ea typeface="+mn-ea"/>
        <a:cs typeface="+mn-cs"/>
      </a:defRPr>
    </a:lvl2pPr>
    <a:lvl3pPr marL="3505992" algn="l" defTabSz="3505992" rtl="0" eaLnBrk="1" latinLnBrk="0" hangingPunct="1">
      <a:defRPr sz="6902" kern="1200">
        <a:solidFill>
          <a:schemeClr val="tx1"/>
        </a:solidFill>
        <a:latin typeface="+mn-lt"/>
        <a:ea typeface="+mn-ea"/>
        <a:cs typeface="+mn-cs"/>
      </a:defRPr>
    </a:lvl3pPr>
    <a:lvl4pPr marL="5258989" algn="l" defTabSz="3505992" rtl="0" eaLnBrk="1" latinLnBrk="0" hangingPunct="1">
      <a:defRPr sz="6902" kern="1200">
        <a:solidFill>
          <a:schemeClr val="tx1"/>
        </a:solidFill>
        <a:latin typeface="+mn-lt"/>
        <a:ea typeface="+mn-ea"/>
        <a:cs typeface="+mn-cs"/>
      </a:defRPr>
    </a:lvl4pPr>
    <a:lvl5pPr marL="7011985" algn="l" defTabSz="3505992" rtl="0" eaLnBrk="1" latinLnBrk="0" hangingPunct="1">
      <a:defRPr sz="6902" kern="1200">
        <a:solidFill>
          <a:schemeClr val="tx1"/>
        </a:solidFill>
        <a:latin typeface="+mn-lt"/>
        <a:ea typeface="+mn-ea"/>
        <a:cs typeface="+mn-cs"/>
      </a:defRPr>
    </a:lvl5pPr>
    <a:lvl6pPr marL="8764981" algn="l" defTabSz="3505992" rtl="0" eaLnBrk="1" latinLnBrk="0" hangingPunct="1">
      <a:defRPr sz="6902" kern="1200">
        <a:solidFill>
          <a:schemeClr val="tx1"/>
        </a:solidFill>
        <a:latin typeface="+mn-lt"/>
        <a:ea typeface="+mn-ea"/>
        <a:cs typeface="+mn-cs"/>
      </a:defRPr>
    </a:lvl6pPr>
    <a:lvl7pPr marL="10517977" algn="l" defTabSz="3505992" rtl="0" eaLnBrk="1" latinLnBrk="0" hangingPunct="1">
      <a:defRPr sz="6902" kern="1200">
        <a:solidFill>
          <a:schemeClr val="tx1"/>
        </a:solidFill>
        <a:latin typeface="+mn-lt"/>
        <a:ea typeface="+mn-ea"/>
        <a:cs typeface="+mn-cs"/>
      </a:defRPr>
    </a:lvl7pPr>
    <a:lvl8pPr marL="12270974" algn="l" defTabSz="3505992" rtl="0" eaLnBrk="1" latinLnBrk="0" hangingPunct="1">
      <a:defRPr sz="6902" kern="1200">
        <a:solidFill>
          <a:schemeClr val="tx1"/>
        </a:solidFill>
        <a:latin typeface="+mn-lt"/>
        <a:ea typeface="+mn-ea"/>
        <a:cs typeface="+mn-cs"/>
      </a:defRPr>
    </a:lvl8pPr>
    <a:lvl9pPr marL="14023970" algn="l" defTabSz="3505992" rtl="0" eaLnBrk="1" latinLnBrk="0" hangingPunct="1">
      <a:defRPr sz="690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158"/>
    <a:srgbClr val="F0F0F0"/>
    <a:srgbClr val="043C44"/>
    <a:srgbClr val="05545F"/>
    <a:srgbClr val="078697"/>
    <a:srgbClr val="0ABE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29" d="100"/>
          <a:sy n="29" d="100"/>
        </p:scale>
        <p:origin x="422" y="-44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6999180"/>
            <a:ext cx="25733931" cy="14889339"/>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62709"/>
            <a:ext cx="22706410" cy="10325516"/>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33690C7-1207-4B8F-8DB5-1BD4042188A1}" type="datetimeFigureOut">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F5EFC5-A2F9-45E5-AA7C-0FCA874B5BED}" type="slidenum">
              <a:rPr lang="en-US" smtClean="0"/>
              <a:t>‹#›</a:t>
            </a:fld>
            <a:endParaRPr lang="en-US"/>
          </a:p>
        </p:txBody>
      </p:sp>
    </p:spTree>
    <p:extLst>
      <p:ext uri="{BB962C8B-B14F-4D97-AF65-F5344CB8AC3E}">
        <p14:creationId xmlns:p14="http://schemas.microsoft.com/office/powerpoint/2010/main" val="3365600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3690C7-1207-4B8F-8DB5-1BD4042188A1}" type="datetimeFigureOut">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F5EFC5-A2F9-45E5-AA7C-0FCA874B5BED}" type="slidenum">
              <a:rPr lang="en-US" smtClean="0"/>
              <a:t>‹#›</a:t>
            </a:fld>
            <a:endParaRPr lang="en-US"/>
          </a:p>
        </p:txBody>
      </p:sp>
    </p:spTree>
    <p:extLst>
      <p:ext uri="{BB962C8B-B14F-4D97-AF65-F5344CB8AC3E}">
        <p14:creationId xmlns:p14="http://schemas.microsoft.com/office/powerpoint/2010/main" val="63177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62125"/>
            <a:ext cx="26112371" cy="17789985"/>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20410"/>
            <a:ext cx="26112371" cy="9355333"/>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33690C7-1207-4B8F-8DB5-1BD4042188A1}" type="datetimeFigureOut">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F5EFC5-A2F9-45E5-AA7C-0FCA874B5BED}" type="slidenum">
              <a:rPr lang="en-US" smtClean="0"/>
              <a:t>‹#›</a:t>
            </a:fld>
            <a:endParaRPr lang="en-US"/>
          </a:p>
        </p:txBody>
      </p:sp>
    </p:spTree>
    <p:extLst>
      <p:ext uri="{BB962C8B-B14F-4D97-AF65-F5344CB8AC3E}">
        <p14:creationId xmlns:p14="http://schemas.microsoft.com/office/powerpoint/2010/main" val="3161893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84800"/>
            <a:ext cx="12866966" cy="2713542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84800"/>
            <a:ext cx="12866966" cy="2713542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3690C7-1207-4B8F-8DB5-1BD4042188A1}" type="datetimeFigureOut">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F5EFC5-A2F9-45E5-AA7C-0FCA874B5BED}" type="slidenum">
              <a:rPr lang="en-US" smtClean="0"/>
              <a:t>‹#›</a:t>
            </a:fld>
            <a:endParaRPr lang="en-US"/>
          </a:p>
        </p:txBody>
      </p:sp>
    </p:spTree>
    <p:extLst>
      <p:ext uri="{BB962C8B-B14F-4D97-AF65-F5344CB8AC3E}">
        <p14:creationId xmlns:p14="http://schemas.microsoft.com/office/powerpoint/2010/main" val="916294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6970"/>
            <a:ext cx="26112371" cy="826635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83919"/>
            <a:ext cx="12807832" cy="5138007"/>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Edit Master text styles</a:t>
            </a:r>
          </a:p>
        </p:txBody>
      </p:sp>
      <p:sp>
        <p:nvSpPr>
          <p:cNvPr id="4" name="Content Placeholder 3"/>
          <p:cNvSpPr>
            <a:spLocks noGrp="1"/>
          </p:cNvSpPr>
          <p:nvPr>
            <p:ph sz="half" idx="2"/>
          </p:nvPr>
        </p:nvSpPr>
        <p:spPr>
          <a:xfrm>
            <a:off x="2085368" y="15621926"/>
            <a:ext cx="12807832" cy="22977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83919"/>
            <a:ext cx="12870909" cy="5138007"/>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Edit Master text styles</a:t>
            </a:r>
          </a:p>
        </p:txBody>
      </p:sp>
      <p:sp>
        <p:nvSpPr>
          <p:cNvPr id="6" name="Content Placeholder 5"/>
          <p:cNvSpPr>
            <a:spLocks noGrp="1"/>
          </p:cNvSpPr>
          <p:nvPr>
            <p:ph sz="quarter" idx="4"/>
          </p:nvPr>
        </p:nvSpPr>
        <p:spPr>
          <a:xfrm>
            <a:off x="15326828" y="15621926"/>
            <a:ext cx="12870909" cy="22977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3690C7-1207-4B8F-8DB5-1BD4042188A1}" type="datetimeFigureOut">
              <a:rPr lang="en-US" smtClean="0"/>
              <a:t>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F5EFC5-A2F9-45E5-AA7C-0FCA874B5BED}" type="slidenum">
              <a:rPr lang="en-US" smtClean="0"/>
              <a:t>‹#›</a:t>
            </a:fld>
            <a:endParaRPr lang="en-US"/>
          </a:p>
        </p:txBody>
      </p:sp>
    </p:spTree>
    <p:extLst>
      <p:ext uri="{BB962C8B-B14F-4D97-AF65-F5344CB8AC3E}">
        <p14:creationId xmlns:p14="http://schemas.microsoft.com/office/powerpoint/2010/main" val="1539304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3690C7-1207-4B8F-8DB5-1BD4042188A1}" type="datetimeFigureOut">
              <a:rPr lang="en-US" smtClean="0"/>
              <a:t>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F5EFC5-A2F9-45E5-AA7C-0FCA874B5BED}" type="slidenum">
              <a:rPr lang="en-US" smtClean="0"/>
              <a:t>‹#›</a:t>
            </a:fld>
            <a:endParaRPr lang="en-US"/>
          </a:p>
        </p:txBody>
      </p:sp>
    </p:spTree>
    <p:extLst>
      <p:ext uri="{BB962C8B-B14F-4D97-AF65-F5344CB8AC3E}">
        <p14:creationId xmlns:p14="http://schemas.microsoft.com/office/powerpoint/2010/main" val="961838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3690C7-1207-4B8F-8DB5-1BD4042188A1}" type="datetimeFigureOut">
              <a:rPr lang="en-US" smtClean="0"/>
              <a:t>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F5EFC5-A2F9-45E5-AA7C-0FCA874B5BED}" type="slidenum">
              <a:rPr lang="en-US" smtClean="0"/>
              <a:t>‹#›</a:t>
            </a:fld>
            <a:endParaRPr lang="en-US"/>
          </a:p>
        </p:txBody>
      </p:sp>
    </p:spTree>
    <p:extLst>
      <p:ext uri="{BB962C8B-B14F-4D97-AF65-F5344CB8AC3E}">
        <p14:creationId xmlns:p14="http://schemas.microsoft.com/office/powerpoint/2010/main" val="3002909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1150"/>
            <a:ext cx="9764544" cy="997902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57701"/>
            <a:ext cx="15326827" cy="30392467"/>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30175"/>
            <a:ext cx="9764544" cy="23769486"/>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Edit Master text styles</a:t>
            </a:r>
          </a:p>
        </p:txBody>
      </p:sp>
      <p:sp>
        <p:nvSpPr>
          <p:cNvPr id="5" name="Date Placeholder 4"/>
          <p:cNvSpPr>
            <a:spLocks noGrp="1"/>
          </p:cNvSpPr>
          <p:nvPr>
            <p:ph type="dt" sz="half" idx="10"/>
          </p:nvPr>
        </p:nvSpPr>
        <p:spPr/>
        <p:txBody>
          <a:bodyPr/>
          <a:lstStyle/>
          <a:p>
            <a:fld id="{A33690C7-1207-4B8F-8DB5-1BD4042188A1}" type="datetimeFigureOut">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F5EFC5-A2F9-45E5-AA7C-0FCA874B5BED}" type="slidenum">
              <a:rPr lang="en-US" smtClean="0"/>
              <a:t>‹#›</a:t>
            </a:fld>
            <a:endParaRPr lang="en-US"/>
          </a:p>
        </p:txBody>
      </p:sp>
    </p:spTree>
    <p:extLst>
      <p:ext uri="{BB962C8B-B14F-4D97-AF65-F5344CB8AC3E}">
        <p14:creationId xmlns:p14="http://schemas.microsoft.com/office/powerpoint/2010/main" val="3517950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1150"/>
            <a:ext cx="9764544" cy="997902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57701"/>
            <a:ext cx="15326827" cy="30392467"/>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30175"/>
            <a:ext cx="9764544" cy="23769486"/>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Edit Master text styles</a:t>
            </a:r>
          </a:p>
        </p:txBody>
      </p:sp>
      <p:sp>
        <p:nvSpPr>
          <p:cNvPr id="5" name="Date Placeholder 4"/>
          <p:cNvSpPr>
            <a:spLocks noGrp="1"/>
          </p:cNvSpPr>
          <p:nvPr>
            <p:ph type="dt" sz="half" idx="10"/>
          </p:nvPr>
        </p:nvSpPr>
        <p:spPr/>
        <p:txBody>
          <a:bodyPr/>
          <a:lstStyle/>
          <a:p>
            <a:fld id="{A33690C7-1207-4B8F-8DB5-1BD4042188A1}" type="datetimeFigureOut">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F5EFC5-A2F9-45E5-AA7C-0FCA874B5BED}" type="slidenum">
              <a:rPr lang="en-US" smtClean="0"/>
              <a:t>‹#›</a:t>
            </a:fld>
            <a:endParaRPr lang="en-US"/>
          </a:p>
        </p:txBody>
      </p:sp>
    </p:spTree>
    <p:extLst>
      <p:ext uri="{BB962C8B-B14F-4D97-AF65-F5344CB8AC3E}">
        <p14:creationId xmlns:p14="http://schemas.microsoft.com/office/powerpoint/2010/main" val="2430498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3690C7-1207-4B8F-8DB5-1BD4042188A1}" type="datetimeFigureOut">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F5EFC5-A2F9-45E5-AA7C-0FCA874B5BED}" type="slidenum">
              <a:rPr lang="en-US" smtClean="0"/>
              <a:t>‹#›</a:t>
            </a:fld>
            <a:endParaRPr lang="en-US"/>
          </a:p>
        </p:txBody>
      </p:sp>
    </p:spTree>
    <p:extLst>
      <p:ext uri="{BB962C8B-B14F-4D97-AF65-F5344CB8AC3E}">
        <p14:creationId xmlns:p14="http://schemas.microsoft.com/office/powerpoint/2010/main" val="1687152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6960"/>
            <a:ext cx="6528093" cy="3624326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6960"/>
            <a:ext cx="19205838" cy="3624326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3690C7-1207-4B8F-8DB5-1BD4042188A1}" type="datetimeFigureOut">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F5EFC5-A2F9-45E5-AA7C-0FCA874B5BED}" type="slidenum">
              <a:rPr lang="en-US" smtClean="0"/>
              <a:t>‹#›</a:t>
            </a:fld>
            <a:endParaRPr lang="en-US"/>
          </a:p>
        </p:txBody>
      </p:sp>
    </p:spTree>
    <p:extLst>
      <p:ext uri="{BB962C8B-B14F-4D97-AF65-F5344CB8AC3E}">
        <p14:creationId xmlns:p14="http://schemas.microsoft.com/office/powerpoint/2010/main" val="2963834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6970"/>
            <a:ext cx="26112371" cy="826635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84800"/>
            <a:ext cx="26112371" cy="2713542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38914"/>
            <a:ext cx="6811923" cy="2276960"/>
          </a:xfrm>
          <a:prstGeom prst="rect">
            <a:avLst/>
          </a:prstGeom>
        </p:spPr>
        <p:txBody>
          <a:bodyPr vert="horz" lIns="91440" tIns="45720" rIns="91440" bIns="45720" rtlCol="0" anchor="ctr"/>
          <a:lstStyle>
            <a:lvl1pPr algn="l">
              <a:defRPr sz="3973">
                <a:solidFill>
                  <a:schemeClr val="tx1">
                    <a:tint val="75000"/>
                  </a:schemeClr>
                </a:solidFill>
              </a:defRPr>
            </a:lvl1pPr>
          </a:lstStyle>
          <a:p>
            <a:fld id="{A33690C7-1207-4B8F-8DB5-1BD4042188A1}" type="datetimeFigureOut">
              <a:rPr lang="en-US" smtClean="0"/>
              <a:t>1/18/2024</a:t>
            </a:fld>
            <a:endParaRPr lang="en-US"/>
          </a:p>
        </p:txBody>
      </p:sp>
      <p:sp>
        <p:nvSpPr>
          <p:cNvPr id="5" name="Footer Placeholder 4"/>
          <p:cNvSpPr>
            <a:spLocks noGrp="1"/>
          </p:cNvSpPr>
          <p:nvPr>
            <p:ph type="ftr" sz="quarter" idx="3"/>
          </p:nvPr>
        </p:nvSpPr>
        <p:spPr>
          <a:xfrm>
            <a:off x="10028665" y="39638914"/>
            <a:ext cx="10217884" cy="2276960"/>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1381869" y="39638914"/>
            <a:ext cx="6811923" cy="2276960"/>
          </a:xfrm>
          <a:prstGeom prst="rect">
            <a:avLst/>
          </a:prstGeom>
        </p:spPr>
        <p:txBody>
          <a:bodyPr vert="horz" lIns="91440" tIns="45720" rIns="91440" bIns="45720" rtlCol="0" anchor="ctr"/>
          <a:lstStyle>
            <a:lvl1pPr algn="r">
              <a:defRPr sz="3973">
                <a:solidFill>
                  <a:schemeClr val="tx1">
                    <a:tint val="75000"/>
                  </a:schemeClr>
                </a:solidFill>
              </a:defRPr>
            </a:lvl1pPr>
          </a:lstStyle>
          <a:p>
            <a:fld id="{24F5EFC5-A2F9-45E5-AA7C-0FCA874B5BED}" type="slidenum">
              <a:rPr lang="en-US" smtClean="0"/>
              <a:t>‹#›</a:t>
            </a:fld>
            <a:endParaRPr lang="en-US"/>
          </a:p>
        </p:txBody>
      </p:sp>
    </p:spTree>
    <p:extLst>
      <p:ext uri="{BB962C8B-B14F-4D97-AF65-F5344CB8AC3E}">
        <p14:creationId xmlns:p14="http://schemas.microsoft.com/office/powerpoint/2010/main" val="42259663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C0E871-23C4-4998-8EB7-79AFB3F0B7CD}"/>
              </a:ext>
            </a:extLst>
          </p:cNvPr>
          <p:cNvSpPr txBox="1"/>
          <p:nvPr/>
        </p:nvSpPr>
        <p:spPr>
          <a:xfrm>
            <a:off x="23957280" y="3657600"/>
            <a:ext cx="4511040" cy="1154483"/>
          </a:xfrm>
          <a:prstGeom prst="rect">
            <a:avLst/>
          </a:prstGeom>
          <a:noFill/>
          <a:ln>
            <a:noFill/>
          </a:ln>
        </p:spPr>
        <p:txBody>
          <a:bodyPr wrap="square" rtlCol="0">
            <a:spAutoFit/>
          </a:bodyPr>
          <a:lstStyle/>
          <a:p>
            <a:r>
              <a:rPr lang="en-US" dirty="0">
                <a:solidFill>
                  <a:srgbClr val="043C44"/>
                </a:solidFill>
                <a:latin typeface="Times New Roman" panose="02020603050405020304" pitchFamily="18" charset="0"/>
                <a:cs typeface="Times New Roman" panose="02020603050405020304" pitchFamily="18" charset="0"/>
              </a:rPr>
              <a:t>CSCI 221</a:t>
            </a:r>
          </a:p>
        </p:txBody>
      </p:sp>
      <p:sp>
        <p:nvSpPr>
          <p:cNvPr id="6" name="TextBox 5">
            <a:extLst>
              <a:ext uri="{FF2B5EF4-FFF2-40B4-BE49-F238E27FC236}">
                <a16:creationId xmlns:a16="http://schemas.microsoft.com/office/drawing/2014/main" id="{6BB95FC1-8CF7-414A-B2F9-768EBD25EF98}"/>
              </a:ext>
            </a:extLst>
          </p:cNvPr>
          <p:cNvSpPr txBox="1"/>
          <p:nvPr/>
        </p:nvSpPr>
        <p:spPr>
          <a:xfrm>
            <a:off x="0" y="4991590"/>
            <a:ext cx="30273758" cy="1200329"/>
          </a:xfrm>
          <a:prstGeom prst="rect">
            <a:avLst/>
          </a:prstGeom>
          <a:noFill/>
          <a:ln>
            <a:noFill/>
          </a:ln>
        </p:spPr>
        <p:txBody>
          <a:bodyPr wrap="square" rtlCol="0">
            <a:spAutoFit/>
          </a:bodyPr>
          <a:lstStyle/>
          <a:p>
            <a:pPr algn="ctr"/>
            <a:r>
              <a:rPr lang="en-US" sz="7200" b="1" dirty="0">
                <a:solidFill>
                  <a:schemeClr val="bg1"/>
                </a:solidFill>
                <a:latin typeface="Times New Roman" panose="02020603050405020304" pitchFamily="18" charset="0"/>
                <a:cs typeface="Times New Roman" panose="02020603050405020304" pitchFamily="18" charset="0"/>
              </a:rPr>
              <a:t>Arithmetic Logic Unit </a:t>
            </a:r>
          </a:p>
        </p:txBody>
      </p:sp>
      <p:sp>
        <p:nvSpPr>
          <p:cNvPr id="36" name="Rectangle 35">
            <a:extLst>
              <a:ext uri="{FF2B5EF4-FFF2-40B4-BE49-F238E27FC236}">
                <a16:creationId xmlns:a16="http://schemas.microsoft.com/office/drawing/2014/main" id="{DF91FDE6-9E8E-42A7-BFB9-BBC4699459FF}"/>
              </a:ext>
            </a:extLst>
          </p:cNvPr>
          <p:cNvSpPr/>
          <p:nvPr/>
        </p:nvSpPr>
        <p:spPr>
          <a:xfrm>
            <a:off x="198120" y="7243020"/>
            <a:ext cx="14543247" cy="66136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995E0EC5-36C1-4A5A-AA10-0E893DD76C85}"/>
              </a:ext>
            </a:extLst>
          </p:cNvPr>
          <p:cNvSpPr/>
          <p:nvPr/>
        </p:nvSpPr>
        <p:spPr>
          <a:xfrm>
            <a:off x="426721" y="7843786"/>
            <a:ext cx="13699243" cy="1052954"/>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6000" b="1" dirty="0">
                <a:latin typeface="Times New Roman" panose="02020603050405020304" pitchFamily="18" charset="0"/>
                <a:cs typeface="Times New Roman" panose="02020603050405020304" pitchFamily="18" charset="0"/>
              </a:rPr>
              <a:t>ABSTRACT</a:t>
            </a:r>
          </a:p>
        </p:txBody>
      </p:sp>
      <p:sp>
        <p:nvSpPr>
          <p:cNvPr id="38" name="Rectangle 37">
            <a:extLst>
              <a:ext uri="{FF2B5EF4-FFF2-40B4-BE49-F238E27FC236}">
                <a16:creationId xmlns:a16="http://schemas.microsoft.com/office/drawing/2014/main" id="{11E612BA-AFA8-419D-BED8-F59FA42E750F}"/>
              </a:ext>
            </a:extLst>
          </p:cNvPr>
          <p:cNvSpPr/>
          <p:nvPr/>
        </p:nvSpPr>
        <p:spPr>
          <a:xfrm>
            <a:off x="15104922" y="7240837"/>
            <a:ext cx="14939487" cy="81471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4282E748-277C-4DC2-ACB9-371377C8B6A6}"/>
              </a:ext>
            </a:extLst>
          </p:cNvPr>
          <p:cNvSpPr/>
          <p:nvPr/>
        </p:nvSpPr>
        <p:spPr>
          <a:xfrm>
            <a:off x="15137606" y="7843045"/>
            <a:ext cx="14605698" cy="114594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INTRODUCTION</a:t>
            </a:r>
          </a:p>
        </p:txBody>
      </p:sp>
      <p:sp>
        <p:nvSpPr>
          <p:cNvPr id="24" name="Text Box 190">
            <a:extLst>
              <a:ext uri="{FF2B5EF4-FFF2-40B4-BE49-F238E27FC236}">
                <a16:creationId xmlns:a16="http://schemas.microsoft.com/office/drawing/2014/main" id="{85BD0114-20C8-43CE-A78F-11D23B7D04D7}"/>
              </a:ext>
            </a:extLst>
          </p:cNvPr>
          <p:cNvSpPr txBox="1">
            <a:spLocks noChangeArrowheads="1"/>
          </p:cNvSpPr>
          <p:nvPr/>
        </p:nvSpPr>
        <p:spPr bwMode="auto">
          <a:xfrm>
            <a:off x="426721" y="8964334"/>
            <a:ext cx="14133282" cy="8210545"/>
          </a:xfrm>
          <a:prstGeom prst="rect">
            <a:avLst/>
          </a:prstGeom>
          <a:noFill/>
          <a:ln w="12700">
            <a:noFill/>
          </a:ln>
          <a:effectLst/>
        </p:spPr>
        <p:txBody>
          <a:bodyPr wrap="square"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R="0" lvl="0" rtl="0">
              <a:lnSpc>
                <a:spcPct val="107000"/>
              </a:lnSpc>
              <a:spcBef>
                <a:spcPts val="0"/>
              </a:spcBef>
              <a:spcAft>
                <a:spcPts val="800"/>
              </a:spcAft>
            </a:pPr>
            <a:r>
              <a:rPr lang="en-US" sz="4000" dirty="0">
                <a:latin typeface="Times New Roman" panose="02020603050405020304" pitchFamily="18" charset="0"/>
                <a:ea typeface="Tahoma" panose="020B0604030504040204" pitchFamily="34" charset="0"/>
                <a:cs typeface="Times New Roman" panose="02020603050405020304" pitchFamily="18" charset="0"/>
              </a:rPr>
              <a:t>This project aims to develop a machine learning model for the detection of offensive language. The objective is to create an automated system capable of accurately identifying and classifying harmful content in text. The project involves data scrapping and  collection, preprocessing, feature extraction, and the exploration of various machine learning algorithms. Performance evaluation metrics are utilized to assess the effectiveness of the models. The developed model demonstrates promising results and can be applied in content moderation systems and social media platforms to identify and address offensive language. This project contributes to the ongoing efforts to foster a safer and more respectful online environment.</a:t>
            </a:r>
          </a:p>
        </p:txBody>
      </p:sp>
      <p:sp>
        <p:nvSpPr>
          <p:cNvPr id="12" name="Rectangle 11">
            <a:extLst>
              <a:ext uri="{FF2B5EF4-FFF2-40B4-BE49-F238E27FC236}">
                <a16:creationId xmlns:a16="http://schemas.microsoft.com/office/drawing/2014/main" id="{41374F1B-6A39-4186-804E-4B237AD8106A}"/>
              </a:ext>
            </a:extLst>
          </p:cNvPr>
          <p:cNvSpPr/>
          <p:nvPr/>
        </p:nvSpPr>
        <p:spPr>
          <a:xfrm>
            <a:off x="15360620" y="9113520"/>
            <a:ext cx="14487871" cy="4743157"/>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rgbClr val="000000"/>
                </a:solidFill>
                <a:effectLst/>
                <a:latin typeface="Open Sans" panose="020B0606030504020204" pitchFamily="34" charset="0"/>
                <a:ea typeface="Times New Roman" panose="02020603050405020304" pitchFamily="18" charset="0"/>
                <a:cs typeface="Open Sans" panose="020B0606030504020204" pitchFamily="34" charset="0"/>
              </a:rPr>
              <a:t>.</a:t>
            </a:r>
            <a:r>
              <a:rPr kumimoji="0" lang="en-US" altLang="en-US" sz="360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50" name="Rectangle 49">
            <a:extLst>
              <a:ext uri="{FF2B5EF4-FFF2-40B4-BE49-F238E27FC236}">
                <a16:creationId xmlns:a16="http://schemas.microsoft.com/office/drawing/2014/main" id="{11731C01-9BFC-430E-B83A-6C556622AFA0}"/>
              </a:ext>
            </a:extLst>
          </p:cNvPr>
          <p:cNvSpPr/>
          <p:nvPr/>
        </p:nvSpPr>
        <p:spPr>
          <a:xfrm>
            <a:off x="15286286" y="9130234"/>
            <a:ext cx="14041845" cy="8343993"/>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focuses on developing a machine learning model to detect offensive language. By collecting , scrapping, and preprocessing relevant data, extracting meaningful features, and exploring various machine learning algorithms, we aim to create an automated system capable of accurately identifying and categorizing harmful content in text. The performance of the model will be evaluated using appropriate metrics, and its potential application in content moderation systems and social media platforms will be examined. This project aims to contribute to ongoing efforts in fostering a safer and more respectful online environment by addressing the urgent need for effective tools to combat the proliferation of offensive language.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4" name="Rectangle 53">
            <a:extLst>
              <a:ext uri="{FF2B5EF4-FFF2-40B4-BE49-F238E27FC236}">
                <a16:creationId xmlns:a16="http://schemas.microsoft.com/office/drawing/2014/main" id="{13288B86-8E9A-4354-9741-022CA63665F4}"/>
              </a:ext>
            </a:extLst>
          </p:cNvPr>
          <p:cNvSpPr/>
          <p:nvPr/>
        </p:nvSpPr>
        <p:spPr>
          <a:xfrm>
            <a:off x="15388847" y="33849582"/>
            <a:ext cx="14518352" cy="132327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6000" b="1" dirty="0">
                <a:latin typeface="Times New Roman" panose="02020603050405020304" pitchFamily="18" charset="0"/>
                <a:cs typeface="Times New Roman" panose="02020603050405020304" pitchFamily="18" charset="0"/>
              </a:rPr>
              <a:t>Conclusion</a:t>
            </a:r>
            <a:r>
              <a:rPr lang="en-US" sz="6000" dirty="0">
                <a:latin typeface="Barlow Condensed Black" panose="00000A06000000000000" pitchFamily="2" charset="0"/>
              </a:rPr>
              <a:t> </a:t>
            </a:r>
          </a:p>
        </p:txBody>
      </p:sp>
      <p:sp>
        <p:nvSpPr>
          <p:cNvPr id="55" name="Rectangle 54">
            <a:extLst>
              <a:ext uri="{FF2B5EF4-FFF2-40B4-BE49-F238E27FC236}">
                <a16:creationId xmlns:a16="http://schemas.microsoft.com/office/drawing/2014/main" id="{FDC02EF6-CCB1-4C79-B06E-FC6AF418330F}"/>
              </a:ext>
            </a:extLst>
          </p:cNvPr>
          <p:cNvSpPr/>
          <p:nvPr/>
        </p:nvSpPr>
        <p:spPr>
          <a:xfrm>
            <a:off x="15513684" y="34621921"/>
            <a:ext cx="14704570" cy="5614886"/>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conclusion, this project has successfully developed a machine learning model for the detection of offensive language in text. The automated system demonstrates promising results, accurately identifying and classifying harmful content. By integrating this model into content moderation systems and social media platforms, we can proactively address instances of offensive language, fostering a safer and more respectful online environment. The outcomes of this project contribute to the ongoing efforts of creating a digital space that promotes inclusivity, tolerance, and constructive dialogue.</a:t>
            </a:r>
          </a:p>
        </p:txBody>
      </p:sp>
      <p:sp>
        <p:nvSpPr>
          <p:cNvPr id="66" name="Rectangle 65">
            <a:extLst>
              <a:ext uri="{FF2B5EF4-FFF2-40B4-BE49-F238E27FC236}">
                <a16:creationId xmlns:a16="http://schemas.microsoft.com/office/drawing/2014/main" id="{AB88B2AB-4D56-49D2-A264-64E72BFFE5C9}"/>
              </a:ext>
            </a:extLst>
          </p:cNvPr>
          <p:cNvSpPr/>
          <p:nvPr/>
        </p:nvSpPr>
        <p:spPr>
          <a:xfrm>
            <a:off x="15874918" y="17172991"/>
            <a:ext cx="12593402" cy="1137913"/>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RESULTS</a:t>
            </a:r>
            <a:r>
              <a:rPr lang="en-US" dirty="0">
                <a:latin typeface="Barlow Condensed Black" panose="00000A06000000000000" pitchFamily="2" charset="0"/>
              </a:rPr>
              <a:t>  </a:t>
            </a:r>
          </a:p>
        </p:txBody>
      </p:sp>
      <p:sp>
        <p:nvSpPr>
          <p:cNvPr id="67" name="Rectangle 66">
            <a:extLst>
              <a:ext uri="{FF2B5EF4-FFF2-40B4-BE49-F238E27FC236}">
                <a16:creationId xmlns:a16="http://schemas.microsoft.com/office/drawing/2014/main" id="{54E553A6-011D-40D8-97B9-C82C3FF89EF2}"/>
              </a:ext>
            </a:extLst>
          </p:cNvPr>
          <p:cNvSpPr/>
          <p:nvPr/>
        </p:nvSpPr>
        <p:spPr>
          <a:xfrm>
            <a:off x="15360620" y="27089162"/>
            <a:ext cx="14704570" cy="523389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69" name="Rectangle 68">
            <a:extLst>
              <a:ext uri="{FF2B5EF4-FFF2-40B4-BE49-F238E27FC236}">
                <a16:creationId xmlns:a16="http://schemas.microsoft.com/office/drawing/2014/main" id="{FE3EE35C-A80B-4EEA-8E60-00104809FCF9}"/>
              </a:ext>
            </a:extLst>
          </p:cNvPr>
          <p:cNvSpPr/>
          <p:nvPr/>
        </p:nvSpPr>
        <p:spPr>
          <a:xfrm>
            <a:off x="15038734" y="19606921"/>
            <a:ext cx="14704570" cy="523389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85" name="Rectangle 84">
            <a:extLst>
              <a:ext uri="{FF2B5EF4-FFF2-40B4-BE49-F238E27FC236}">
                <a16:creationId xmlns:a16="http://schemas.microsoft.com/office/drawing/2014/main" id="{35021F7F-2A0B-4B45-9496-21226BDC246B}"/>
              </a:ext>
            </a:extLst>
          </p:cNvPr>
          <p:cNvSpPr/>
          <p:nvPr/>
        </p:nvSpPr>
        <p:spPr>
          <a:xfrm>
            <a:off x="198120" y="36057557"/>
            <a:ext cx="13230758" cy="132327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6000" b="1" dirty="0">
                <a:latin typeface="Times New Roman" panose="02020603050405020304" pitchFamily="18" charset="0"/>
                <a:cs typeface="Times New Roman" panose="02020603050405020304" pitchFamily="18" charset="0"/>
              </a:rPr>
              <a:t>TEAM MEMBERS</a:t>
            </a:r>
          </a:p>
        </p:txBody>
      </p:sp>
      <p:sp>
        <p:nvSpPr>
          <p:cNvPr id="86" name="TextBox 85">
            <a:extLst>
              <a:ext uri="{FF2B5EF4-FFF2-40B4-BE49-F238E27FC236}">
                <a16:creationId xmlns:a16="http://schemas.microsoft.com/office/drawing/2014/main" id="{03E87D26-9E85-455A-AA00-2B4C48BB4C65}"/>
              </a:ext>
            </a:extLst>
          </p:cNvPr>
          <p:cNvSpPr txBox="1"/>
          <p:nvPr/>
        </p:nvSpPr>
        <p:spPr>
          <a:xfrm>
            <a:off x="375579" y="37516020"/>
            <a:ext cx="10260790" cy="4955203"/>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DONE BY:</a:t>
            </a:r>
          </a:p>
          <a:p>
            <a:pPr marL="857250" indent="-85725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Shahd Ayman Abdullah </a:t>
            </a:r>
          </a:p>
          <a:p>
            <a:pPr marL="857250" indent="-85725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Rawan Ayman Saied</a:t>
            </a:r>
          </a:p>
          <a:p>
            <a:pPr marL="857250" indent="-85725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Merna Mohamed Salem </a:t>
            </a:r>
          </a:p>
          <a:p>
            <a:pPr marL="857250" indent="-85725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Trevena Ayman </a:t>
            </a:r>
          </a:p>
          <a:p>
            <a:pPr marL="857250" indent="-85725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Farah Amr Mohamed</a:t>
            </a:r>
          </a:p>
          <a:p>
            <a:pPr marL="857250" indent="-85725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Moura Saber Ayoub </a:t>
            </a:r>
          </a:p>
          <a:p>
            <a:endParaRPr lang="en-US" sz="3600" dirty="0"/>
          </a:p>
        </p:txBody>
      </p:sp>
      <p:pic>
        <p:nvPicPr>
          <p:cNvPr id="7" name="Picture 6">
            <a:extLst>
              <a:ext uri="{FF2B5EF4-FFF2-40B4-BE49-F238E27FC236}">
                <a16:creationId xmlns:a16="http://schemas.microsoft.com/office/drawing/2014/main" id="{080AB2EC-50BB-A82E-01E0-D49C229A34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0273758" cy="7406283"/>
          </a:xfrm>
          <a:prstGeom prst="rect">
            <a:avLst/>
          </a:prstGeom>
        </p:spPr>
      </p:pic>
      <p:sp>
        <p:nvSpPr>
          <p:cNvPr id="9" name="TextBox 8">
            <a:extLst>
              <a:ext uri="{FF2B5EF4-FFF2-40B4-BE49-F238E27FC236}">
                <a16:creationId xmlns:a16="http://schemas.microsoft.com/office/drawing/2014/main" id="{E8C01E92-04DE-B5A6-1981-382C144961A0}"/>
              </a:ext>
            </a:extLst>
          </p:cNvPr>
          <p:cNvSpPr txBox="1"/>
          <p:nvPr/>
        </p:nvSpPr>
        <p:spPr>
          <a:xfrm>
            <a:off x="9054570" y="1159738"/>
            <a:ext cx="4649363" cy="1154483"/>
          </a:xfrm>
          <a:prstGeom prst="rect">
            <a:avLst/>
          </a:prstGeom>
          <a:noFill/>
        </p:spPr>
        <p:txBody>
          <a:bodyPr wrap="square" rtlCol="0">
            <a:spAutoFit/>
          </a:bodyPr>
          <a:lstStyle/>
          <a:p>
            <a:pPr algn="l"/>
            <a:r>
              <a:rPr lang="en-US" dirty="0"/>
              <a:t>CSCI417-04</a:t>
            </a:r>
          </a:p>
        </p:txBody>
      </p:sp>
      <p:sp>
        <p:nvSpPr>
          <p:cNvPr id="11" name="TextBox 10">
            <a:extLst>
              <a:ext uri="{FF2B5EF4-FFF2-40B4-BE49-F238E27FC236}">
                <a16:creationId xmlns:a16="http://schemas.microsoft.com/office/drawing/2014/main" id="{713CCB7C-639C-DC1E-B74D-27B0644A03DD}"/>
              </a:ext>
            </a:extLst>
          </p:cNvPr>
          <p:cNvSpPr txBox="1"/>
          <p:nvPr/>
        </p:nvSpPr>
        <p:spPr>
          <a:xfrm>
            <a:off x="14226639" y="20490872"/>
            <a:ext cx="1828800" cy="1828800"/>
          </a:xfrm>
          <a:prstGeom prst="rect">
            <a:avLst/>
          </a:prstGeom>
          <a:noFill/>
        </p:spPr>
        <p:txBody>
          <a:bodyPr wrap="square" rtlCol="0">
            <a:spAutoFit/>
          </a:bodyPr>
          <a:lstStyle/>
          <a:p>
            <a:pPr algn="l"/>
            <a:endParaRPr lang="en-US" dirty="0"/>
          </a:p>
        </p:txBody>
      </p:sp>
      <p:sp>
        <p:nvSpPr>
          <p:cNvPr id="13" name="TextBox 12">
            <a:extLst>
              <a:ext uri="{FF2B5EF4-FFF2-40B4-BE49-F238E27FC236}">
                <a16:creationId xmlns:a16="http://schemas.microsoft.com/office/drawing/2014/main" id="{B05CF2F3-3245-43C9-E61F-D2A1B4AA4BC0}"/>
              </a:ext>
            </a:extLst>
          </p:cNvPr>
          <p:cNvSpPr txBox="1"/>
          <p:nvPr/>
        </p:nvSpPr>
        <p:spPr>
          <a:xfrm>
            <a:off x="20914615" y="2487480"/>
            <a:ext cx="1828800" cy="1828800"/>
          </a:xfrm>
          <a:prstGeom prst="rect">
            <a:avLst/>
          </a:prstGeom>
          <a:noFill/>
        </p:spPr>
        <p:txBody>
          <a:bodyPr wrap="square" rtlCol="0">
            <a:spAutoFit/>
          </a:bodyPr>
          <a:lstStyle/>
          <a:p>
            <a:pPr algn="l"/>
            <a:endParaRPr lang="en-US" dirty="0"/>
          </a:p>
        </p:txBody>
      </p:sp>
      <p:sp>
        <p:nvSpPr>
          <p:cNvPr id="14" name="TextBox 13">
            <a:extLst>
              <a:ext uri="{FF2B5EF4-FFF2-40B4-BE49-F238E27FC236}">
                <a16:creationId xmlns:a16="http://schemas.microsoft.com/office/drawing/2014/main" id="{9C52C0B0-C51D-E056-399D-0399789EC171}"/>
              </a:ext>
            </a:extLst>
          </p:cNvPr>
          <p:cNvSpPr txBox="1"/>
          <p:nvPr/>
        </p:nvSpPr>
        <p:spPr>
          <a:xfrm>
            <a:off x="14226639" y="19372613"/>
            <a:ext cx="1828800" cy="1828800"/>
          </a:xfrm>
          <a:prstGeom prst="rect">
            <a:avLst/>
          </a:prstGeom>
          <a:noFill/>
        </p:spPr>
        <p:txBody>
          <a:bodyPr wrap="square" rtlCol="0">
            <a:spAutoFit/>
          </a:bodyPr>
          <a:lstStyle/>
          <a:p>
            <a:pPr algn="l"/>
            <a:endParaRPr lang="en-US" dirty="0"/>
          </a:p>
        </p:txBody>
      </p:sp>
      <p:sp>
        <p:nvSpPr>
          <p:cNvPr id="15" name="TextBox 14">
            <a:extLst>
              <a:ext uri="{FF2B5EF4-FFF2-40B4-BE49-F238E27FC236}">
                <a16:creationId xmlns:a16="http://schemas.microsoft.com/office/drawing/2014/main" id="{AA25AA18-A3D8-A7B2-E3A0-7EF86B54C08D}"/>
              </a:ext>
            </a:extLst>
          </p:cNvPr>
          <p:cNvSpPr txBox="1"/>
          <p:nvPr/>
        </p:nvSpPr>
        <p:spPr>
          <a:xfrm flipH="1">
            <a:off x="11914909" y="19362717"/>
            <a:ext cx="2311730" cy="441049"/>
          </a:xfrm>
          <a:prstGeom prst="rect">
            <a:avLst/>
          </a:prstGeom>
          <a:noFill/>
        </p:spPr>
        <p:txBody>
          <a:bodyPr wrap="square" rtlCol="0">
            <a:spAutoFit/>
          </a:bodyPr>
          <a:lstStyle/>
          <a:p>
            <a:pPr algn="l"/>
            <a:endParaRPr lang="en-US" dirty="0"/>
          </a:p>
        </p:txBody>
      </p:sp>
      <p:sp>
        <p:nvSpPr>
          <p:cNvPr id="16" name="TextBox 15">
            <a:extLst>
              <a:ext uri="{FF2B5EF4-FFF2-40B4-BE49-F238E27FC236}">
                <a16:creationId xmlns:a16="http://schemas.microsoft.com/office/drawing/2014/main" id="{40F61D12-6473-ABDE-6C4E-4E4B1C456C1C}"/>
              </a:ext>
            </a:extLst>
          </p:cNvPr>
          <p:cNvSpPr txBox="1"/>
          <p:nvPr/>
        </p:nvSpPr>
        <p:spPr>
          <a:xfrm>
            <a:off x="14226639" y="19362717"/>
            <a:ext cx="1828800" cy="1828800"/>
          </a:xfrm>
          <a:prstGeom prst="rect">
            <a:avLst/>
          </a:prstGeom>
          <a:noFill/>
        </p:spPr>
        <p:txBody>
          <a:bodyPr wrap="square" rtlCol="0">
            <a:spAutoFit/>
          </a:bodyPr>
          <a:lstStyle/>
          <a:p>
            <a:pPr algn="l"/>
            <a:endParaRPr lang="en-US" dirty="0"/>
          </a:p>
        </p:txBody>
      </p:sp>
      <p:sp>
        <p:nvSpPr>
          <p:cNvPr id="18" name="TextBox 17">
            <a:extLst>
              <a:ext uri="{FF2B5EF4-FFF2-40B4-BE49-F238E27FC236}">
                <a16:creationId xmlns:a16="http://schemas.microsoft.com/office/drawing/2014/main" id="{9ABF5DCB-0155-49CC-C8ED-A5DF64E3EE06}"/>
              </a:ext>
            </a:extLst>
          </p:cNvPr>
          <p:cNvSpPr txBox="1"/>
          <p:nvPr/>
        </p:nvSpPr>
        <p:spPr>
          <a:xfrm>
            <a:off x="16230160" y="17754441"/>
            <a:ext cx="1828800" cy="1828800"/>
          </a:xfrm>
          <a:prstGeom prst="rect">
            <a:avLst/>
          </a:prstGeom>
          <a:noFill/>
        </p:spPr>
        <p:txBody>
          <a:bodyPr wrap="square" rtlCol="0">
            <a:spAutoFit/>
          </a:bodyPr>
          <a:lstStyle/>
          <a:p>
            <a:pPr algn="l"/>
            <a:endParaRPr lang="en-US" dirty="0"/>
          </a:p>
        </p:txBody>
      </p:sp>
      <p:sp>
        <p:nvSpPr>
          <p:cNvPr id="19" name="TextBox 18">
            <a:extLst>
              <a:ext uri="{FF2B5EF4-FFF2-40B4-BE49-F238E27FC236}">
                <a16:creationId xmlns:a16="http://schemas.microsoft.com/office/drawing/2014/main" id="{0DF59751-73B0-D557-F6A2-EC537F0F6465}"/>
              </a:ext>
            </a:extLst>
          </p:cNvPr>
          <p:cNvSpPr txBox="1"/>
          <p:nvPr/>
        </p:nvSpPr>
        <p:spPr>
          <a:xfrm>
            <a:off x="1160350" y="6591288"/>
            <a:ext cx="27162034" cy="1200329"/>
          </a:xfrm>
          <a:prstGeom prst="rect">
            <a:avLst/>
          </a:prstGeom>
          <a:noFill/>
        </p:spPr>
        <p:txBody>
          <a:bodyPr wrap="square" rtlCol="0">
            <a:spAutoFit/>
          </a:bodyPr>
          <a:lstStyle/>
          <a:p>
            <a:pPr algn="ctr"/>
            <a:r>
              <a:rPr lang="en-US" sz="7200" b="1" dirty="0">
                <a:solidFill>
                  <a:srgbClr val="002060"/>
                </a:solidFill>
                <a:latin typeface="Times New Roman" panose="02020603050405020304" pitchFamily="18" charset="0"/>
                <a:cs typeface="Times New Roman" panose="02020603050405020304" pitchFamily="18" charset="0"/>
              </a:rPr>
              <a:t> RespectNet: Detect offensive language</a:t>
            </a:r>
          </a:p>
        </p:txBody>
      </p:sp>
      <p:sp>
        <p:nvSpPr>
          <p:cNvPr id="21" name="Rectangle 20">
            <a:extLst>
              <a:ext uri="{FF2B5EF4-FFF2-40B4-BE49-F238E27FC236}">
                <a16:creationId xmlns:a16="http://schemas.microsoft.com/office/drawing/2014/main" id="{0B626D90-19A3-0ABA-A8EB-A493A6233639}"/>
              </a:ext>
            </a:extLst>
          </p:cNvPr>
          <p:cNvSpPr/>
          <p:nvPr/>
        </p:nvSpPr>
        <p:spPr>
          <a:xfrm>
            <a:off x="198120" y="17172991"/>
            <a:ext cx="13992453" cy="1006394"/>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Methodology</a:t>
            </a:r>
            <a:r>
              <a:rPr lang="en-US" dirty="0">
                <a:latin typeface="Barlow Condensed Black" panose="00000A06000000000000" pitchFamily="2" charset="0"/>
              </a:rPr>
              <a:t>  </a:t>
            </a:r>
          </a:p>
        </p:txBody>
      </p:sp>
      <p:sp>
        <p:nvSpPr>
          <p:cNvPr id="22" name="TextBox 21">
            <a:extLst>
              <a:ext uri="{FF2B5EF4-FFF2-40B4-BE49-F238E27FC236}">
                <a16:creationId xmlns:a16="http://schemas.microsoft.com/office/drawing/2014/main" id="{DA56DB87-D924-C1D7-0725-F39CF2B6C390}"/>
              </a:ext>
            </a:extLst>
          </p:cNvPr>
          <p:cNvSpPr txBox="1"/>
          <p:nvPr/>
        </p:nvSpPr>
        <p:spPr>
          <a:xfrm>
            <a:off x="302431" y="18353337"/>
            <a:ext cx="14159626" cy="9325630"/>
          </a:xfrm>
          <a:prstGeom prst="rect">
            <a:avLst/>
          </a:prstGeom>
          <a:noFill/>
        </p:spPr>
        <p:txBody>
          <a:bodyPr wrap="square" rtlCol="0">
            <a:spAutoFit/>
          </a:bodyPr>
          <a:lstStyle/>
          <a:p>
            <a:pPr algn="l"/>
            <a:r>
              <a:rPr lang="en-US" sz="4000" dirty="0">
                <a:latin typeface="Times New Roman" panose="02020603050405020304" pitchFamily="18" charset="0"/>
                <a:cs typeface="Times New Roman" panose="02020603050405020304" pitchFamily="18" charset="0"/>
              </a:rPr>
              <a:t>In our machine learning project to predict offensive language, we obtained our data from Scrapping Twitter. After collecting the data, we cleaned and prepared it by removing irrelevant information, handling missing values. Then we chose six machine learning models (KNN, logistic regression, naive Bayes, decision trees , SVM and random forest) and adjusted their settings using a technique called grid search to find the best set of hyperparameters for our models and cross validated them. Finally, the data was modeled, we chose algorithms of supervised learning, data was 70%-30% split and we vectorized the data. The models were implemented. A confusion matrix was created to summarize the performances of the models, classification report to provide us with detailed summary of important metrics such as precision, recall, F1-score, and support for each class in the classification problem, and finally, ensemble</a:t>
            </a:r>
          </a:p>
        </p:txBody>
      </p:sp>
      <p:pic>
        <p:nvPicPr>
          <p:cNvPr id="4" name="object 56">
            <a:extLst>
              <a:ext uri="{FF2B5EF4-FFF2-40B4-BE49-F238E27FC236}">
                <a16:creationId xmlns:a16="http://schemas.microsoft.com/office/drawing/2014/main" id="{126AADC1-FB7C-CE78-C272-7149E2EC30F8}"/>
              </a:ext>
            </a:extLst>
          </p:cNvPr>
          <p:cNvPicPr/>
          <p:nvPr/>
        </p:nvPicPr>
        <p:blipFill>
          <a:blip r:embed="rId3" cstate="print"/>
          <a:stretch>
            <a:fillRect/>
          </a:stretch>
        </p:blipFill>
        <p:spPr>
          <a:xfrm>
            <a:off x="1959429" y="7816142"/>
            <a:ext cx="2286000" cy="963343"/>
          </a:xfrm>
          <a:prstGeom prst="rect">
            <a:avLst/>
          </a:prstGeom>
        </p:spPr>
      </p:pic>
      <p:pic>
        <p:nvPicPr>
          <p:cNvPr id="8" name="object 49">
            <a:extLst>
              <a:ext uri="{FF2B5EF4-FFF2-40B4-BE49-F238E27FC236}">
                <a16:creationId xmlns:a16="http://schemas.microsoft.com/office/drawing/2014/main" id="{C06BB8EB-D21F-3C8A-97BB-16F804C30EB1}"/>
              </a:ext>
            </a:extLst>
          </p:cNvPr>
          <p:cNvPicPr/>
          <p:nvPr/>
        </p:nvPicPr>
        <p:blipFill>
          <a:blip r:embed="rId4" cstate="print"/>
          <a:stretch>
            <a:fillRect/>
          </a:stretch>
        </p:blipFill>
        <p:spPr>
          <a:xfrm>
            <a:off x="16924588" y="7900530"/>
            <a:ext cx="1449534" cy="978700"/>
          </a:xfrm>
          <a:prstGeom prst="rect">
            <a:avLst/>
          </a:prstGeom>
        </p:spPr>
      </p:pic>
      <p:pic>
        <p:nvPicPr>
          <p:cNvPr id="23" name="object 50">
            <a:extLst>
              <a:ext uri="{FF2B5EF4-FFF2-40B4-BE49-F238E27FC236}">
                <a16:creationId xmlns:a16="http://schemas.microsoft.com/office/drawing/2014/main" id="{DA5C47B1-1AC0-2C71-221A-4B3281936F23}"/>
              </a:ext>
            </a:extLst>
          </p:cNvPr>
          <p:cNvPicPr/>
          <p:nvPr/>
        </p:nvPicPr>
        <p:blipFill>
          <a:blip r:embed="rId5" cstate="print"/>
          <a:stretch>
            <a:fillRect/>
          </a:stretch>
        </p:blipFill>
        <p:spPr>
          <a:xfrm>
            <a:off x="947082" y="17217311"/>
            <a:ext cx="2155347" cy="962074"/>
          </a:xfrm>
          <a:prstGeom prst="rect">
            <a:avLst/>
          </a:prstGeom>
        </p:spPr>
      </p:pic>
      <p:pic>
        <p:nvPicPr>
          <p:cNvPr id="25" name="Picture 24">
            <a:extLst>
              <a:ext uri="{FF2B5EF4-FFF2-40B4-BE49-F238E27FC236}">
                <a16:creationId xmlns:a16="http://schemas.microsoft.com/office/drawing/2014/main" id="{EFF88D81-DE08-39E6-D176-71EDB0240E0C}"/>
              </a:ext>
            </a:extLst>
          </p:cNvPr>
          <p:cNvPicPr>
            <a:picLocks noChangeAspect="1"/>
          </p:cNvPicPr>
          <p:nvPr/>
        </p:nvPicPr>
        <p:blipFill>
          <a:blip r:embed="rId6"/>
          <a:stretch>
            <a:fillRect/>
          </a:stretch>
        </p:blipFill>
        <p:spPr>
          <a:xfrm>
            <a:off x="18465140" y="34067457"/>
            <a:ext cx="1399880" cy="1060103"/>
          </a:xfrm>
          <a:prstGeom prst="rect">
            <a:avLst/>
          </a:prstGeom>
        </p:spPr>
      </p:pic>
      <p:pic>
        <p:nvPicPr>
          <p:cNvPr id="26" name="Picture 25" descr="Chart, icon&#10;&#10;Description automatically generated">
            <a:extLst>
              <a:ext uri="{FF2B5EF4-FFF2-40B4-BE49-F238E27FC236}">
                <a16:creationId xmlns:a16="http://schemas.microsoft.com/office/drawing/2014/main" id="{29A52115-3BD0-07C4-C2F3-33AD2E7C648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306286" y="36029330"/>
            <a:ext cx="1440796" cy="1440796"/>
          </a:xfrm>
          <a:prstGeom prst="rect">
            <a:avLst/>
          </a:prstGeom>
        </p:spPr>
      </p:pic>
      <p:pic>
        <p:nvPicPr>
          <p:cNvPr id="27" name="object 87">
            <a:extLst>
              <a:ext uri="{FF2B5EF4-FFF2-40B4-BE49-F238E27FC236}">
                <a16:creationId xmlns:a16="http://schemas.microsoft.com/office/drawing/2014/main" id="{F94DE960-816D-5EB9-08E8-100BA53EAD0D}"/>
              </a:ext>
            </a:extLst>
          </p:cNvPr>
          <p:cNvPicPr/>
          <p:nvPr/>
        </p:nvPicPr>
        <p:blipFill>
          <a:blip r:embed="rId8" cstate="print"/>
          <a:stretch>
            <a:fillRect/>
          </a:stretch>
        </p:blipFill>
        <p:spPr>
          <a:xfrm>
            <a:off x="17521229" y="17096397"/>
            <a:ext cx="1590455" cy="1541103"/>
          </a:xfrm>
          <a:prstGeom prst="rect">
            <a:avLst/>
          </a:prstGeom>
        </p:spPr>
      </p:pic>
      <p:sp>
        <p:nvSpPr>
          <p:cNvPr id="28" name="TextBox 27">
            <a:extLst>
              <a:ext uri="{FF2B5EF4-FFF2-40B4-BE49-F238E27FC236}">
                <a16:creationId xmlns:a16="http://schemas.microsoft.com/office/drawing/2014/main" id="{D0A978EE-E453-9C8C-B163-53B303017234}"/>
              </a:ext>
            </a:extLst>
          </p:cNvPr>
          <p:cNvSpPr txBox="1"/>
          <p:nvPr/>
        </p:nvSpPr>
        <p:spPr>
          <a:xfrm>
            <a:off x="15874918" y="18668841"/>
            <a:ext cx="11709482" cy="3170099"/>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The results were: 86.66% , 83.33% , 80% ,80 %, 76.66% , 70% , 70% for RF, KNN, SVM,  LR ,  DT ,  Naïve Bayes. respectively, rounded to 2 decimal places. RF came out to be the most accurate model of the six models</a:t>
            </a:r>
          </a:p>
        </p:txBody>
      </p:sp>
      <p:pic>
        <p:nvPicPr>
          <p:cNvPr id="20" name="Picture 19">
            <a:extLst>
              <a:ext uri="{FF2B5EF4-FFF2-40B4-BE49-F238E27FC236}">
                <a16:creationId xmlns:a16="http://schemas.microsoft.com/office/drawing/2014/main" id="{FE87BF1C-54B9-D503-ABE4-87101FB0869D}"/>
              </a:ext>
            </a:extLst>
          </p:cNvPr>
          <p:cNvPicPr>
            <a:picLocks noChangeAspect="1"/>
          </p:cNvPicPr>
          <p:nvPr/>
        </p:nvPicPr>
        <p:blipFill rotWithShape="1">
          <a:blip r:embed="rId9">
            <a:extLst>
              <a:ext uri="{28A0092B-C50C-407E-A947-70E740481C1C}">
                <a14:useLocalDpi xmlns:a14="http://schemas.microsoft.com/office/drawing/2010/main" val="0"/>
              </a:ext>
            </a:extLst>
          </a:blip>
          <a:srcRect l="4112" t="1930" r="3601" b="7491"/>
          <a:stretch/>
        </p:blipFill>
        <p:spPr>
          <a:xfrm>
            <a:off x="2369127" y="27814155"/>
            <a:ext cx="8382000" cy="735870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1" name="Picture 30">
            <a:extLst>
              <a:ext uri="{FF2B5EF4-FFF2-40B4-BE49-F238E27FC236}">
                <a16:creationId xmlns:a16="http://schemas.microsoft.com/office/drawing/2014/main" id="{3D514A6F-87B6-A524-CE68-A5D7E77B62A6}"/>
              </a:ext>
            </a:extLst>
          </p:cNvPr>
          <p:cNvPicPr>
            <a:picLocks noChangeAspect="1"/>
          </p:cNvPicPr>
          <p:nvPr/>
        </p:nvPicPr>
        <p:blipFill rotWithShape="1">
          <a:blip r:embed="rId10">
            <a:extLst>
              <a:ext uri="{28A0092B-C50C-407E-A947-70E740481C1C}">
                <a14:useLocalDpi xmlns:a14="http://schemas.microsoft.com/office/drawing/2010/main" val="0"/>
              </a:ext>
            </a:extLst>
          </a:blip>
          <a:srcRect l="6704" t="16759" r="6471" b="13725"/>
          <a:stretch/>
        </p:blipFill>
        <p:spPr>
          <a:xfrm>
            <a:off x="22743415" y="21562541"/>
            <a:ext cx="6813948" cy="453013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34" name="Picture 33">
            <a:extLst>
              <a:ext uri="{FF2B5EF4-FFF2-40B4-BE49-F238E27FC236}">
                <a16:creationId xmlns:a16="http://schemas.microsoft.com/office/drawing/2014/main" id="{223A7CE7-6D87-60EE-F0B5-AFE626531B1D}"/>
              </a:ext>
            </a:extLst>
          </p:cNvPr>
          <p:cNvPicPr>
            <a:picLocks noChangeAspect="1"/>
          </p:cNvPicPr>
          <p:nvPr/>
        </p:nvPicPr>
        <p:blipFill rotWithShape="1">
          <a:blip r:embed="rId11">
            <a:extLst>
              <a:ext uri="{28A0092B-C50C-407E-A947-70E740481C1C}">
                <a14:useLocalDpi xmlns:a14="http://schemas.microsoft.com/office/drawing/2010/main" val="0"/>
              </a:ext>
            </a:extLst>
          </a:blip>
          <a:srcRect t="-593" b="-175"/>
          <a:stretch/>
        </p:blipFill>
        <p:spPr>
          <a:xfrm>
            <a:off x="15217028" y="26092673"/>
            <a:ext cx="12029298" cy="7303137"/>
          </a:xfrm>
          <a:prstGeom prst="roundRect">
            <a:avLst>
              <a:gd name="adj" fmla="val 7019"/>
            </a:avLst>
          </a:prstGeom>
          <a:solidFill>
            <a:srgbClr val="FFFFFF"/>
          </a:solidFill>
          <a:ln w="76200" cap="sq">
            <a:noFill/>
            <a:miter lim="800000"/>
          </a:ln>
          <a:effectLst>
            <a:reflection blurRad="12700" stA="28000" endPos="28000" dist="5000" dir="5400000" sy="-100000" algn="bl" rotWithShape="0"/>
          </a:effectLst>
        </p:spPr>
      </p:pic>
    </p:spTree>
    <p:extLst>
      <p:ext uri="{BB962C8B-B14F-4D97-AF65-F5344CB8AC3E}">
        <p14:creationId xmlns:p14="http://schemas.microsoft.com/office/powerpoint/2010/main" val="34270924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2599</TotalTime>
  <Words>581</Words>
  <Application>Microsoft Office PowerPoint</Application>
  <PresentationFormat>Custom</PresentationFormat>
  <Paragraphs>23</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Barlow Condensed Black</vt:lpstr>
      <vt:lpstr>Calibri</vt:lpstr>
      <vt:lpstr>Calibri Light</vt:lpstr>
      <vt:lpstr>Open Sans</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dc:creator>
  <cp:lastModifiedBy>Moura Saber Ayoub</cp:lastModifiedBy>
  <cp:revision>26</cp:revision>
  <dcterms:created xsi:type="dcterms:W3CDTF">2021-11-21T11:36:07Z</dcterms:created>
  <dcterms:modified xsi:type="dcterms:W3CDTF">2024-01-18T19:43:57Z</dcterms:modified>
</cp:coreProperties>
</file>